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ts1" initials="y" lastIdx="0" clrIdx="0"/>
  <p:cmAuthor id="2" name="WPS" initials="W" lastIdx="0" clrIdx="1"/>
  <p:cmAuthor id="3" name="作者" initials="A" lastIdx="0" clrIdx="2"/>
  <p:cmAuthor id="4" name="微软用户" initials="微软用户" lastIdx="0" clrIdx="3"/>
  <p:cmAuthor id="5" name="86182" initials="8" lastIdx="0" clrIdx="4"/>
  <p:cmAuthor id="6" name="熊仪_aYju7RJj" initials="熊" lastIdx="0" clrIdx="5"/>
  <p:cmAuthor id="7" name="yifei" initials="y" lastIdx="0" clrIdx="6"/>
  <p:cmAuthor id="8" name="ADMIN" initials="A" lastIdx="0" clrIdx="7"/>
  <p:cmAuthor id="9" name="zhouzean" initials="z" lastIdx="0" clrIdx="8"/>
  <p:cmAuthor id="10" name="李晓菲_MZFnUzi6" initials="李" lastIdx="0" clrIdx="9"/>
  <p:cmAuthor id="11" name="小珞_QjMfU7FR" initials="小" lastIdx="0" clrIdx="10"/>
  <p:cmAuthor id="12" name="骆倩怡_Znauj26B" initials="authorId_382814100" lastIdx="0" clrIdx="11"/>
  <p:cmAuthor id="13" name="WPS_1679281038" initials="W" lastIdx="0" clrIdx="12"/>
  <p:cmAuthor id="14" name="yiyi" initials="y" lastIdx="0" clrIdx="13"/>
  <p:cmAuthor id="15" name="Nancy Nan Wu" initials="nanwu" lastIdx="0" clrIdx="14"/>
  <p:cmAuthor id="16" name="DTT" initials="DTT" lastIdx="0" clrIdx="15"/>
  <p:cmAuthor id="17" name="省应急厅" initials="admin" lastIdx="0" clrIdx="16"/>
  <p:cmAuthor id="18" name="zhuaf" initials="zaf" lastIdx="0" clrIdx="17"/>
  <p:cmAuthor id="19" name="wenfeng" initials="w" lastIdx="0" clrIdx="18"/>
  <p:cmAuthor id="20" name="hsscholl" initials="h" lastIdx="0" clrIdx="19"/>
  <p:cmAuthor id="21" name="kangjie" initials="A" lastIdx="0" clrIdx="20"/>
  <p:cmAuthor id="22" name="张志强" initials="张志强" lastIdx="0" clrIdx="21"/>
  <p:cmAuthor id="23" name="li kai" initials="lk" lastIdx="0" clrIdx="22"/>
  <p:cmAuthor id="24" name="刘乾勇" initials="刘乾勇" lastIdx="0" clrIdx="23"/>
  <p:cmAuthor id="25" name="xiake" initials="x" lastIdx="0" clrIdx="24"/>
  <p:cmAuthor id="26" name="许赛华" initials="许" lastIdx="0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202221" y="6092387"/>
            <a:ext cx="2718702" cy="47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450" tIns="59224" rIns="118450" bIns="59224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05205" indent="-3867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546860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165350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783840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02965" indent="-3092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4021455" indent="-3092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4639945" indent="-3092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5259070" indent="-30924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70F6A7-4100-4A9C-A3F6-7194D411B67A}" type="slidenum">
              <a:rPr lang="en-US" altLang="zh-CN" sz="1150">
                <a:solidFill>
                  <a:srgbClr val="FFFFFF"/>
                </a:solidFill>
                <a:latin typeface="Arial Black" panose="020B0A04020102020204" pitchFamily="34" charset="0"/>
                <a:ea typeface="MS PMincho" pitchFamily="18" charset="-128"/>
              </a:rPr>
            </a:fld>
            <a:endParaRPr lang="en-US" altLang="zh-CN" sz="1150">
              <a:solidFill>
                <a:srgbClr val="FFFFFF"/>
              </a:solidFill>
              <a:latin typeface="Arial Black" panose="020B0A04020102020204" pitchFamily="34" charset="0"/>
              <a:ea typeface="MS PMincho" pitchFamily="18" charset="-128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08403" y="4855194"/>
            <a:ext cx="9371546" cy="1980565"/>
          </a:xfrm>
          <a:prstGeom prst="rect">
            <a:avLst/>
          </a:prstGeom>
        </p:spPr>
        <p:txBody>
          <a:bodyPr wrap="square" lIns="118450" tIns="59224" rIns="118450" bIns="59224">
            <a:spAutoFit/>
          </a:bodyPr>
          <a:lstStyle/>
          <a:p>
            <a:r>
              <a:rPr lang="zh-CN" altLang="en-US" sz="1725" b="1" dirty="0" smtClean="0">
                <a:solidFill>
                  <a:srgbClr val="C00000"/>
                </a:solidFill>
              </a:rPr>
              <a:t>重要提示：</a:t>
            </a:r>
            <a:endParaRPr lang="en-US" altLang="zh-CN" sz="1725" b="1" dirty="0" smtClean="0">
              <a:solidFill>
                <a:srgbClr val="C00000"/>
              </a:solidFill>
            </a:endParaRPr>
          </a:p>
          <a:p>
            <a:endParaRPr lang="en-US" altLang="zh-CN" sz="1725" b="1" dirty="0" smtClean="0">
              <a:solidFill>
                <a:srgbClr val="C00000"/>
              </a:solidFill>
            </a:endParaRPr>
          </a:p>
          <a:p>
            <a:r>
              <a:rPr lang="zh-CN" altLang="en-US" sz="1725" b="1" dirty="0" smtClean="0">
                <a:solidFill>
                  <a:srgbClr val="C00000"/>
                </a:solidFill>
              </a:rPr>
              <a:t>凡</a:t>
            </a:r>
            <a:r>
              <a:rPr lang="zh-CN" altLang="en-US" sz="1725" b="1" dirty="0">
                <a:solidFill>
                  <a:srgbClr val="C00000"/>
                </a:solidFill>
              </a:rPr>
              <a:t>平时成绩不合格（某一个单项为</a:t>
            </a:r>
            <a:r>
              <a:rPr lang="en-US" altLang="zh-CN" sz="1725" b="1" dirty="0">
                <a:solidFill>
                  <a:srgbClr val="C00000"/>
                </a:solidFill>
              </a:rPr>
              <a:t>0</a:t>
            </a:r>
            <a:r>
              <a:rPr lang="zh-CN" altLang="en-US" sz="1725" b="1" dirty="0">
                <a:solidFill>
                  <a:srgbClr val="C00000"/>
                </a:solidFill>
              </a:rPr>
              <a:t>，或者缺勤次数</a:t>
            </a:r>
            <a:r>
              <a:rPr lang="en-US" altLang="zh-CN" sz="1725" b="1" dirty="0">
                <a:solidFill>
                  <a:srgbClr val="C00000"/>
                </a:solidFill>
              </a:rPr>
              <a:t>&gt;1/3,  </a:t>
            </a:r>
            <a:r>
              <a:rPr lang="zh-CN" altLang="en-US" sz="1725" b="1" dirty="0">
                <a:solidFill>
                  <a:srgbClr val="C00000"/>
                </a:solidFill>
              </a:rPr>
              <a:t>直接判定不合格，或者综合评定成绩</a:t>
            </a:r>
            <a:r>
              <a:rPr lang="en-US" altLang="zh-CN" sz="1725" b="1" dirty="0">
                <a:solidFill>
                  <a:srgbClr val="C00000"/>
                </a:solidFill>
              </a:rPr>
              <a:t> &lt;60</a:t>
            </a:r>
            <a:r>
              <a:rPr lang="zh-CN" altLang="en-US" sz="1725" b="1" dirty="0">
                <a:solidFill>
                  <a:srgbClr val="C00000"/>
                </a:solidFill>
              </a:rPr>
              <a:t>），不准参加期未考试。</a:t>
            </a:r>
            <a:endParaRPr lang="zh-CN" altLang="en-US" sz="1725" b="1" dirty="0">
              <a:solidFill>
                <a:srgbClr val="C00000"/>
              </a:solidFill>
            </a:endParaRPr>
          </a:p>
          <a:p>
            <a:endParaRPr lang="en-US" altLang="zh-CN" sz="1725" b="1" dirty="0" smtClean="0">
              <a:solidFill>
                <a:srgbClr val="C00000"/>
              </a:solidFill>
            </a:endParaRPr>
          </a:p>
          <a:p>
            <a:r>
              <a:rPr lang="zh-CN" altLang="en-US" sz="1725" b="1" dirty="0" smtClean="0"/>
              <a:t>具体平时成绩来源详情见后</a:t>
            </a:r>
            <a:endParaRPr lang="en-US" altLang="zh-CN" sz="1725" b="1" dirty="0" smtClean="0"/>
          </a:p>
          <a:p>
            <a:endParaRPr lang="zh-CN" altLang="en-US" sz="1725" b="1" dirty="0"/>
          </a:p>
        </p:txBody>
      </p: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271145" y="195580"/>
            <a:ext cx="9408160" cy="61912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accent1"/>
            </a:solidFill>
            <a:miter lim="800000"/>
          </a:ln>
        </p:spPr>
        <p:txBody>
          <a:bodyPr lIns="0" tIns="52879" rIns="0" bIns="0" anchor="b"/>
          <a:lstStyle/>
          <a:p>
            <a:r>
              <a:rPr lang="en-US" altLang="zh-CN" sz="383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隶书" panose="02010509060101010101" pitchFamily="49" charset="-122"/>
              </a:rPr>
              <a:t> </a:t>
            </a:r>
            <a:r>
              <a:rPr lang="en-US" altLang="zh-CN" sz="383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隶书" panose="02010509060101010101" pitchFamily="49" charset="-122"/>
              </a:rPr>
              <a:t>  “</a:t>
            </a:r>
            <a:r>
              <a:rPr lang="zh-CN" altLang="en-US" sz="383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隶书" panose="02010509060101010101" pitchFamily="49" charset="-122"/>
              </a:rPr>
              <a:t>人工智能基础</a:t>
            </a:r>
            <a:r>
              <a:rPr lang="en-US" altLang="zh-CN" sz="383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隶书" panose="02010509060101010101" pitchFamily="49" charset="-122"/>
              </a:rPr>
              <a:t>”</a:t>
            </a:r>
            <a:r>
              <a:rPr lang="zh-CN" altLang="en-US" sz="383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隶书" panose="02010509060101010101" pitchFamily="49" charset="-122"/>
              </a:rPr>
              <a:t>如何评定成绩？</a:t>
            </a:r>
            <a:endParaRPr lang="zh-CN" altLang="en-US" sz="38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隶书" panose="02010509060101010101" pitchFamily="49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33038" y="1223644"/>
          <a:ext cx="9466580" cy="3453130"/>
        </p:xfrm>
        <a:graphic>
          <a:graphicData uri="http://schemas.openxmlformats.org/drawingml/2006/table">
            <a:tbl>
              <a:tblPr/>
              <a:tblGrid>
                <a:gridCol w="2389505"/>
                <a:gridCol w="1179195"/>
                <a:gridCol w="3427095"/>
                <a:gridCol w="2470785"/>
              </a:tblGrid>
              <a:tr h="5949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教学目标</a:t>
                      </a:r>
                      <a:endParaRPr lang="en-US" altLang="en-US" sz="1725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课时</a:t>
                      </a:r>
                      <a:endParaRPr lang="en-US" altLang="en-US" sz="1725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评价方法</a:t>
                      </a:r>
                      <a:endParaRPr lang="en-US" altLang="en-US" sz="1725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评价依据</a:t>
                      </a:r>
                      <a:endParaRPr lang="en-US" altLang="en-US" sz="1725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23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目标1(</a:t>
                      </a:r>
                      <a:r>
                        <a:rPr lang="zh-CN" alt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理论）</a:t>
                      </a:r>
                      <a:endParaRPr lang="zh-CN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期末考试+作业+测试+课堂活动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试卷+作业+测试+课堂活动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13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目标2</a:t>
                      </a:r>
                      <a:r>
                        <a:rPr lang="zh-CN" alt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（实验）</a:t>
                      </a:r>
                      <a:endParaRPr lang="zh-CN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期末考试+WPS学习+</a:t>
                      </a:r>
                      <a:r>
                        <a:rPr lang="zh-CN" alt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头歌</a:t>
                      </a: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实验操作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试卷+</a:t>
                      </a:r>
                      <a:r>
                        <a:rPr lang="zh-CN" alt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头歌练习</a:t>
                      </a: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+WPS AI实训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合计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725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725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5650" marR="6565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12165" y="74930"/>
            <a:ext cx="10515600" cy="1006475"/>
          </a:xfrm>
        </p:spPr>
        <p:txBody>
          <a:bodyPr>
            <a:normAutofit/>
          </a:bodyPr>
          <a:lstStyle/>
          <a:p>
            <a:r>
              <a:rPr lang="zh-CN" sz="2400" dirty="0">
                <a:solidFill>
                  <a:srgbClr val="FF0000"/>
                </a:solidFill>
              </a:rPr>
              <a:t>要求完成的所有实验如列表所示：</a:t>
            </a:r>
            <a:endParaRPr lang="zh-CN" sz="2400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49020" y="1081405"/>
          <a:ext cx="10041255" cy="5457190"/>
        </p:xfrm>
        <a:graphic>
          <a:graphicData uri="http://schemas.openxmlformats.org/drawingml/2006/table">
            <a:tbl>
              <a:tblPr/>
              <a:tblGrid>
                <a:gridCol w="1564005"/>
                <a:gridCol w="5331460"/>
                <a:gridCol w="3145790"/>
              </a:tblGrid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20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20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实验内容</a:t>
                      </a:r>
                      <a:endParaRPr lang="zh-CN" altLang="en-US" sz="20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0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需完成个数或关数</a:t>
                      </a:r>
                      <a:endParaRPr lang="zh-CN" altLang="en-US" sz="20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WPS AI 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实训室练习（右上角带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实时分析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标志）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 Python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顺序结构程序设计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26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3.Python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分支结构程序设计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5.Python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循环结构程序设计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7.Python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函数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机器学习之分类任务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机器学习之回归任务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机器学习之聚类任务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深度学习初体验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计算机视觉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待发布（期末程序测试试卷）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12165" y="74930"/>
            <a:ext cx="10515600" cy="1006475"/>
          </a:xfrm>
        </p:spPr>
        <p:txBody>
          <a:bodyPr>
            <a:normAutofit/>
          </a:bodyPr>
          <a:lstStyle/>
          <a:p>
            <a:r>
              <a:rPr lang="zh-CN" sz="2400" dirty="0">
                <a:solidFill>
                  <a:srgbClr val="FF0000"/>
                </a:solidFill>
              </a:rPr>
              <a:t>要求完成的所有理论平时任务如列表所示：</a:t>
            </a:r>
            <a:endParaRPr lang="zh-CN" sz="2400" dirty="0">
              <a:solidFill>
                <a:srgbClr val="FF0000"/>
              </a:solidFill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49020" y="907415"/>
          <a:ext cx="10041255" cy="5457190"/>
        </p:xfrm>
        <a:graphic>
          <a:graphicData uri="http://schemas.openxmlformats.org/drawingml/2006/table">
            <a:tbl>
              <a:tblPr/>
              <a:tblGrid>
                <a:gridCol w="1564005"/>
                <a:gridCol w="5331460"/>
                <a:gridCol w="3145790"/>
              </a:tblGrid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20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20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理论任务</a:t>
                      </a:r>
                      <a:endParaRPr lang="zh-CN" altLang="en-US" sz="20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0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需完成个数或关数</a:t>
                      </a:r>
                      <a:endParaRPr lang="zh-CN" altLang="en-US" sz="20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学习通上发布的所有作业（不要求看视频）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发布的总个数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WPS 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协作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上的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“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人工智能</a:t>
                      </a: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测试（非模拟练习）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26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每次课的课堂练习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发布的总个数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ctr" fontAlgn="ctr"/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考勤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以实际考勤次数为准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学习通上发布的期中考试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学习通上发布的期末考试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37970" y="4296410"/>
            <a:ext cx="9235440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重要提示：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凡平时成绩不合格，</a:t>
            </a:r>
            <a:r>
              <a:rPr lang="zh-CN" altLang="en-US" sz="2000" b="1">
                <a:sym typeface="+mn-ea"/>
              </a:rPr>
              <a:t>不准参加期未考试，直接重修。以下是</a:t>
            </a:r>
            <a:r>
              <a:rPr lang="en-US" altLang="zh-CN" sz="2000" b="1">
                <a:sym typeface="+mn-ea"/>
              </a:rPr>
              <a:t>3</a:t>
            </a:r>
            <a:r>
              <a:rPr lang="zh-CN" altLang="en-US" sz="2000" b="1">
                <a:sym typeface="+mn-ea"/>
              </a:rPr>
              <a:t>中情况，只要符合一种即为不合格：</a:t>
            </a:r>
            <a:endParaRPr lang="zh-CN" altLang="en-US" sz="2000" b="1">
              <a:sym typeface="+mn-ea"/>
            </a:endParaRPr>
          </a:p>
          <a:p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）某一个单项为</a:t>
            </a:r>
            <a:r>
              <a:rPr lang="en-US" altLang="zh-CN" sz="2000" b="1">
                <a:solidFill>
                  <a:schemeClr val="tx1"/>
                </a:solidFill>
              </a:rPr>
              <a:t>0</a:t>
            </a:r>
            <a:r>
              <a:rPr lang="zh-CN" altLang="en-US" sz="2000" b="1">
                <a:solidFill>
                  <a:schemeClr val="tx1"/>
                </a:solidFill>
              </a:rPr>
              <a:t>，理论列表的每一行为一个单项，实验部分单项分别为列表中</a:t>
            </a:r>
            <a:r>
              <a:rPr lang="en-US" altLang="zh-CN" sz="2000" b="1">
                <a:solidFill>
                  <a:schemeClr val="tx1"/>
                </a:solidFill>
              </a:rPr>
              <a:t> </a:t>
            </a:r>
            <a:r>
              <a:rPr lang="zh-CN" altLang="en-US" sz="2000" b="1">
                <a:solidFill>
                  <a:schemeClr val="tx1"/>
                </a:solidFill>
              </a:rPr>
              <a:t>序号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；</a:t>
            </a:r>
            <a:r>
              <a:rPr lang="en-US" altLang="zh-CN" sz="2000" b="1">
                <a:solidFill>
                  <a:schemeClr val="tx1"/>
                </a:solidFill>
              </a:rPr>
              <a:t>2-10</a:t>
            </a:r>
            <a:r>
              <a:rPr lang="zh-CN" altLang="en-US" sz="2000" b="1">
                <a:solidFill>
                  <a:schemeClr val="tx1"/>
                </a:solidFill>
              </a:rPr>
              <a:t>；</a:t>
            </a:r>
            <a:r>
              <a:rPr lang="en-US" altLang="zh-CN" sz="2000" b="1">
                <a:solidFill>
                  <a:schemeClr val="tx1"/>
                </a:solidFill>
              </a:rPr>
              <a:t>11 </a:t>
            </a:r>
            <a:r>
              <a:rPr lang="zh-CN" altLang="en-US" sz="2000" b="1">
                <a:solidFill>
                  <a:schemeClr val="tx1"/>
                </a:solidFill>
              </a:rPr>
              <a:t>共</a:t>
            </a:r>
            <a:r>
              <a:rPr lang="en-US" altLang="zh-CN" sz="2000" b="1">
                <a:solidFill>
                  <a:schemeClr val="tx1"/>
                </a:solidFill>
              </a:rPr>
              <a:t>3</a:t>
            </a:r>
            <a:r>
              <a:rPr lang="zh-CN" altLang="en-US" sz="2000" b="1">
                <a:solidFill>
                  <a:schemeClr val="tx1"/>
                </a:solidFill>
              </a:rPr>
              <a:t>个单项。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 b="1">
                <a:solidFill>
                  <a:schemeClr val="tx1"/>
                </a:solidFill>
              </a:rPr>
              <a:t>）或者缺勤次数</a:t>
            </a:r>
            <a:r>
              <a:rPr lang="en-US" altLang="zh-CN" sz="2000" b="1">
                <a:solidFill>
                  <a:schemeClr val="tx1"/>
                </a:solidFill>
              </a:rPr>
              <a:t>&gt;1/3, 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直接判定不合格！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 b="1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en-US" sz="2000" b="1">
                <a:solidFill>
                  <a:schemeClr val="tx1"/>
                </a:solidFill>
              </a:rPr>
              <a:t>综合评定后平时分</a:t>
            </a:r>
            <a:r>
              <a:rPr lang="en-US" altLang="zh-CN" sz="2000" b="1">
                <a:solidFill>
                  <a:schemeClr val="tx1"/>
                </a:solidFill>
              </a:rPr>
              <a:t> &lt;60 </a:t>
            </a:r>
            <a:r>
              <a:rPr lang="zh-CN" altLang="en-US" sz="2000" b="1">
                <a:solidFill>
                  <a:schemeClr val="tx1"/>
                </a:solidFill>
              </a:rPr>
              <a:t>分</a:t>
            </a:r>
            <a:endParaRPr lang="zh-CN" altLang="en-US" sz="20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ABLE_BEAUTIFY" val="smartTable{68ae3a19-e2e1-4118-a5fe-328c8d547a8e}"/>
  <p:tag name="TABLE_ENDDRAG_ORIGIN_RECT" val="778*273"/>
  <p:tag name="TABLE_ENDDRAG_RECT" val="65*140*778*27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WPS 演示</Application>
  <PresentationFormat>宽屏</PresentationFormat>
  <Paragraphs>173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Arial Black</vt:lpstr>
      <vt:lpstr>MS PMincho</vt:lpstr>
      <vt:lpstr>微软雅黑</vt:lpstr>
      <vt:lpstr>隶书</vt:lpstr>
      <vt:lpstr>Arial Unicode MS</vt:lpstr>
      <vt:lpstr>Calibri</vt:lpstr>
      <vt:lpstr>Yu Gothic</vt:lpstr>
      <vt:lpstr>WPS</vt:lpstr>
      <vt:lpstr>PowerPoint 演示文稿</vt:lpstr>
      <vt:lpstr>要求完成的所有实验如列表所示：</vt:lpstr>
      <vt:lpstr>要求完成的所有理论平时任务如列表所示：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王平</cp:lastModifiedBy>
  <cp:revision>158</cp:revision>
  <dcterms:created xsi:type="dcterms:W3CDTF">2019-06-19T02:08:00Z</dcterms:created>
  <dcterms:modified xsi:type="dcterms:W3CDTF">2025-12-22T13:37:38Z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C10D10018C864897B7382473A96A3D20_11</vt:lpwstr>
  </property>
</Properties>
</file>